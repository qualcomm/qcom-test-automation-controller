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70C0"/>
                </a:solidFill>
                <a:latin typeface="Calibri"/>
              </a:rPr>
              <a:t>Removing Qt from the QTAC Core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5661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444444"/>
                </a:solidFill>
                <a:latin typeface="Calibri"/>
              </a:rPr>
              <a:t>Architecture, Design Decisions, and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QTAC Refactor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What is QTAC / TAC?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600">
                <a:solidFill>
                  <a:srgbClr val="1F1F1F"/>
                </a:solidFill>
                <a:latin typeface="Calibri"/>
              </a:rPr>
              <a:t>•  TAC = Test Automation Controller</a:t>
            </a:r>
          </a:p>
          <a:p>
            <a:pPr>
              <a:spcBef>
                <a:spcPts val="200"/>
              </a:spcBef>
            </a:pPr>
            <a:r>
              <a:rPr sz="1600">
                <a:solidFill>
                  <a:srgbClr val="1F1F1F"/>
                </a:solidFill>
                <a:latin typeface="Calibri"/>
              </a:rPr>
              <a:t>•  Used by hardware test engineers to control debug boards on DUT (Device Under Test)</a:t>
            </a:r>
          </a:p>
          <a:p>
            <a:pPr>
              <a:spcBef>
                <a:spcPts val="200"/>
              </a:spcBef>
            </a:pPr>
            <a:r>
              <a:rPr sz="1600">
                <a:solidFill>
                  <a:srgbClr val="1F1F1F"/>
                </a:solidFill>
                <a:latin typeface="Calibri"/>
              </a:rPr>
              <a:t>•  Boards supported: FTDI-based ALPACA-LITE, PSoC, PIC32CX</a:t>
            </a:r>
          </a:p>
          <a:p>
            <a:pPr>
              <a:spcBef>
                <a:spcPts val="200"/>
              </a:spcBef>
            </a:pPr>
            <a:r>
              <a:rPr sz="1600">
                <a:solidFill>
                  <a:srgbClr val="1F1F1F"/>
                </a:solidFill>
                <a:latin typeface="Calibri"/>
              </a:rPr>
              <a:t>•  Exposes: pin control, serial communication, scripted quick-commands, device configuration</a:t>
            </a:r>
          </a:p>
          <a:p>
            <a:pPr>
              <a:spcBef>
                <a:spcPts val="200"/>
              </a:spcBef>
            </a:pPr>
            <a:r>
              <a:rPr sz="1600">
                <a:solidFill>
                  <a:srgbClr val="1F1F1F"/>
                </a:solidFill>
                <a:latin typeface="Calibri"/>
              </a:rPr>
              <a:t>•  Deliverables: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444444"/>
                </a:solidFill>
                <a:latin typeface="Calibri"/>
              </a:rPr>
              <a:t>  •  TAC.exe — legacy GUI application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444444"/>
                </a:solidFill>
                <a:latin typeface="Calibri"/>
              </a:rPr>
              <a:t>  •  TACDev.dll — C API used by Python lab automation scripts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The Problem: Qt Entangled in the 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6949440" cy="53949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676656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┌──────────────────────────────────────────────────────────┐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│               QCommonConsole (Qt-dependent)  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│  ┌─────────────┐  ┌─────────────┐  ┌─────────────┐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│  │ Device      │  │ Protocols   │  │ Serial      │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│  │ Logic       │  │ TACLite     │  │ QSerialPort │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│  │ AlpacaDevice│  │ PSOC        │  │             │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│  └──────┬──────┘  └──────┬──────┘  └──────┬──────┘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│         └────────────────┴─────────────────┘ 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│                          │                   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│               ┌──────────▼─────────┐        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│               │    Qt6::Core       │ ← required by ALL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│               │    QString         │        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│               │    QObject / moc   │        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│               └──────────┬─────────┘        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└─────────────────────────┬────────────────────────────────┘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                           │  Qt6 required by every consumer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             ┌─────────────┼─────────────┐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             ▼             ▼             ▼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        TAC.exe       TACDev.dll      CLI tools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1F1F1F"/>
                </a:solidFill>
                <a:latin typeface="Courier New"/>
              </a:rPr>
              <a:t>                  (lab scripts — must install Qt6 ~600 MB)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82296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0C0"/>
                </a:solidFill>
                <a:latin typeface="Calibri"/>
              </a:rPr>
              <a:t>Problems: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234440"/>
            <a:ext cx="4480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Device logic, protocols, serial all Qt-dependent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TACDev.dll forced to carry Qt6 runtime (~38 MB)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Every lab machine needed Qt6 installed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Qt LGPL prohibits redistribution — blocker for open-sourcing QTAC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Outside developers couldn't build or contribute without a full Qt6 install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Goal and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6035040" cy="53949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585216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        ┌──────────────────────────────┐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        │    qtac-app.exe  (GUI)       │  Qt6 here only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        │    TACWindow, TACPinFrame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        └──────────────┬───────────────┘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           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        ┌──────────────▼───────────────┐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        │   qt-adapter  (bridge)       │  Qt6::Core only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        │   TACDeviceBridge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        └──────────────┬───────────────┘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                       │  C++20 only below this line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┌──────────────────────▼──────────────────────┐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│          qtac-core  (static lib) 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│  AlpacaDevice · TACDriveThread · AlpacaScript│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│  qtac::String · qtac::Signal&lt;&gt; · SerialPort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│           zero Qt dependency     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└──────────────────┬───────────────────────────┘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       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          ┌────────▼────────┐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          │  TACDev.dll     │  no Qt · ~300 KB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1F1F1F"/>
                </a:solidFill>
                <a:latin typeface="Courier New"/>
              </a:rPr>
              <a:t>            └─────────────────┘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92240" y="1005840"/>
          <a:ext cx="6492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188720"/>
                <a:gridCol w="1920240"/>
              </a:tblGrid>
              <a:tr h="347472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Qt?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source/library  (qtac-core)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✅ Refactored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source/tacdev  (TACDev.dll)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✅ Refactored — Qt-free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source/libraries/qt-adapter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Bridge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✅ New bridge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source/app  (qtac-app.exe)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Yes (GUI)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✅ New Qt6 GUI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Three Approaches Considered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05840"/>
          <a:ext cx="960120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926080"/>
                <a:gridCol w="1188720"/>
                <a:gridCol w="2286000"/>
              </a:tblGrid>
              <a:tr h="347472">
                <a:tc>
                  <a:txBody>
                    <a:bodyPr wrap="square"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Call-site changes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Risk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Readability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A. qtac:: wrappers  ✅ chosen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Minimal — type names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High — Qt-like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B. Direct std:: replacement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Extensive — every method call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C. Centralized StringUtils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Extensive — every call site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918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0C0"/>
                </a:solidFill>
                <a:latin typeface="Calibri"/>
              </a:rPr>
              <a:t>Why wrappers won: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>
                <a:solidFill>
                  <a:srgbClr val="1F1F1F"/>
                </a:solidFill>
                <a:latin typeface="Calibri"/>
              </a:rPr>
              <a:t>•  159 call sites would need rewriting with Approach B (str.contains() → str.find() != npos, etc.)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1F1F1F"/>
                </a:solidFill>
                <a:latin typeface="Calibri"/>
              </a:rPr>
              <a:t>•  Wrapper approach: change only type names — logic and method names stay identical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1F1F1F"/>
                </a:solidFill>
                <a:latin typeface="Calibri"/>
              </a:rPr>
              <a:t>•  Smaller diffs → easier review, lower bug risk, familiar to engineers who know Qt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1F1F1F"/>
                </a:solidFill>
                <a:latin typeface="Calibri"/>
              </a:rPr>
              <a:t>•  ~2000 lines of wrapper infrastructure up front, saves thousands of call-site rewrites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Approach A: qtac:: Wrappers (Chosen)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44444"/>
                </a:solidFill>
                <a:latin typeface="Calibri"/>
              </a:rPr>
              <a:t>Before (Qt):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566160" cy="10058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3383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QString processInput(const QString&amp; input)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QStringList parts =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  input.trimmed().toLower().split(',');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return parts.join(" | ");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Calibri"/>
              </a:rPr>
              <a:t>After (qtac:: wrappers):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3566160" cy="10058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3383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qtac::String processInput(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  const qtac::String&amp; input)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qtac::StringList parts =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  input.trimmed().toLower().split(',');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return parts.join(" | ");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9476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44444"/>
                </a:solidFill>
                <a:latin typeface="Calibri"/>
              </a:rPr>
              <a:t>With direct std:: (Approach B):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3566160" cy="1417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33832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std::string processInput(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  const std::string&amp; input)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// manual trim (~4 lines)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// manual toLower (std::transform)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// manual split (istringstream loop)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// manual join (loop + accumulate)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// ~20 lines total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86868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0C0"/>
                </a:solidFill>
                <a:latin typeface="Calibri"/>
              </a:rPr>
              <a:t>Key insight: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280160"/>
            <a:ext cx="7406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qtac:: version = 2-word change (type names only)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All method calls (.trimmed, .toLower, .split, .join) unchanged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Logic is identical to the original Qt code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Approach B rewrites every string operation site: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444444"/>
                </a:solidFill>
                <a:latin typeface="Calibri"/>
              </a:rPr>
              <a:t>  •  str.contains()   →   str.find() != npos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444444"/>
                </a:solidFill>
                <a:latin typeface="Calibri"/>
              </a:rPr>
              <a:t>  •  str.split(',')   →   8 lines of istringstream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444444"/>
                </a:solidFill>
                <a:latin typeface="Calibri"/>
              </a:rPr>
              <a:t>  •  str.startsWith() →   str.substr(0,n) == prefix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444444"/>
                </a:solidFill>
                <a:latin typeface="Calibri"/>
              </a:rPr>
              <a:t>  •  …159 such sites across the codebase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Key Qt Replacement Types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868680"/>
          <a:ext cx="10881360" cy="3822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114800"/>
                <a:gridCol w="3657600"/>
              </a:tblGrid>
              <a:tr h="347472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Qt Type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qtac:: Equivalent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Backed by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QString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qtac::String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std::string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QByteArray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qtac::ByteArray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std::string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QStringList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qtac::StringList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std::vector&lt;qtac::String&gt;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QList&lt;T&gt;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qtac::List&lt;T&gt;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std::vector&lt;T&gt;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QMap&lt;K,V&gt;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qtac::Map&lt;K,V&gt;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std::map&lt;K,V&gt;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QVariant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qtac::Variant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std::variant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QSharedPointer&lt;T&gt;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std::shared_ptr&lt;T&gt;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C++11 stdlib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QMutex / QWaitCondition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std::mutex / std::condition_variable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C++11 stdlib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QPair&lt;A,B&gt;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qtac::Pair&lt;A,B&gt;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std::pair&lt;A,B&gt;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QSerialPort / QSerialPortInfo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qtac::SerialPort / SerialPortInfo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libserialport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98932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All wrappers expose the same method names as Qt: toLower(), contains(), split(), join(), append(), isEmpty() 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The Biggest Design Challenge: Signals &amp; Slots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444"/>
                </a:solidFill>
                <a:latin typeface="Calibri"/>
              </a:rPr>
              <a:t>Legacy Qt signals in TACDriveThread: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303520" cy="18288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12064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// Q_OBJECT macro — moc generates glue code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signals: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   void pinStateChanged(quint64 pin, bool state);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   void deviceOpen();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   void firmwareVersionUpdate(QString firmware);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   // ... 14 signals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444"/>
                </a:solidFill>
                <a:latin typeface="Calibri"/>
              </a:rPr>
              <a:t>Why std::function alone is not enough: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566160"/>
            <a:ext cx="5303520" cy="12344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611880"/>
            <a:ext cx="51206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// std::function holds ONE callback only: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std::function&lt;void(uint64_t,bool)&gt; onPinChanged;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// Second connect silently overwrites the first!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dt-&gt;onPinChanged = [](auto p, auto s){ /* GUI */ };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dt-&gt;onPinChanged = [](auto p, auto s){ /* log */ };  // ← BUG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8686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Calibri"/>
              </a:rPr>
              <a:t>Qt signals do three things at once: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35040" y="1280160"/>
          <a:ext cx="55778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017520"/>
              </a:tblGrid>
              <a:tr h="347472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Property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it matters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Multi-subscriber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GUI + logger both connect to one signal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Thread-safe dispatch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Device thread fires; Qt delivers on GUI thread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Auto-disconnect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Connection breaks when object is destroyed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035040" y="32004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444"/>
                </a:solidFill>
                <a:latin typeface="Calibri"/>
              </a:rPr>
              <a:t>None of these are provided by std::function.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611880"/>
            <a:ext cx="5760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Missing any one of these causes real bugs: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444444"/>
                </a:solidFill>
                <a:latin typeface="Calibri"/>
              </a:rPr>
              <a:t>  •  • Silent subscriber overwrite → GUI stops updating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444444"/>
                </a:solidFill>
                <a:latin typeface="Calibri"/>
              </a:rPr>
              <a:t>  •  • Wrong-thread callback → GUI corruption / crash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444444"/>
                </a:solidFill>
                <a:latin typeface="Calibri"/>
              </a:rPr>
              <a:t>  •  • No auto-disconnect → dangling pointer on object destruction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Solution: qtac::Signal&lt;Args...&gt;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444"/>
                </a:solidFill>
                <a:latin typeface="Calibri"/>
              </a:rPr>
              <a:t>Template design: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303520" cy="21945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1206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template&lt;typename... Args&gt;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class Signal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public: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   // Returns token — subscriber lives while token held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   std::shared_ptr&lt;void&gt; connect(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       std::function&lt;void(Args...)&gt; fn);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   // Fire all live subscribers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   void operator()(Args... args);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};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6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444"/>
                </a:solidFill>
                <a:latin typeface="Calibri"/>
              </a:rPr>
              <a:t>Usage — identical feel to Qt signals: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31920"/>
            <a:ext cx="5303520" cy="23317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977640"/>
            <a:ext cx="5120640" cy="2240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// Declared in TACDriveThread: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qtac::Signal&lt;uint64_t, bool&gt;      onPinStateChanged;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qtac::Signal&lt;const qtac::String&amp;&gt; onFirmwareVersionUpdate;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// Subscriber (auto-disconnects when token drops):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_token = thread-&gt;onPinStateChanged.connect(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   [this](uint64_t pin, bool state)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       // handle pin change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   });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8686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Calibri"/>
              </a:rPr>
              <a:t>How it works: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280160"/>
            <a:ext cx="5760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Stores a list of weak_ptr-wrapped callbacks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connect() wraps the lambda in a shared_ptr — the returned token keeps it alive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Token out of scope → weak_ptr expires → auto-disconnect on next fire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operator() iterates list, promotes weak_ptrs, fires live ones, cleans up dead ones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Internal mutex makes connect/fire thread-safe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Thread marshaling to GUI thread is handled separately by TACDeviceBridge via QMetaObject::invokeMethod(Qt::QueuedConnection)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Separation of concerns: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•  Core library: what happened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•  Bridge: where to deliver 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The Qt Bridge: Clean Separation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5943600" cy="55778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576072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┌──────────────────────────────────────────────┐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       source/app  (Qt6 GUI)               │  ← uses Qt freely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TACWindow · TACPinFrame · TACDeviceSelection│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└────────────────────┬─────────────────────────┘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                   │  Qt signals → GUI widgets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┌────────────────────▼─────────────────────────┐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source/libraries/qt-adapter                │  ← thin bridge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TACDeviceBridge  (Q_OBJECT)    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• Wraps qtac::TACDriveThread   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• Receives qtac::Signal&lt;&gt; callbacks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• Re-emits as Qt signals via   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  QMetaObject::invokeMethod        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  (Qt::QueuedConnection — thread-safe)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└────────────────────┬─────────────────────────┘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                   │  C++20 only below this line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┌────────────────────▼─────────────────────────┐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source/library  (qtac-core)                │  ← zero Qt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AlpacaDevice · TACDriveThread · ...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└──────────────────────────────────────────────┘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8686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0C0"/>
                </a:solidFill>
                <a:latin typeface="Calibri"/>
              </a:rPr>
              <a:t>Why the bridge pattern?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25880"/>
            <a:ext cx="53035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TACDeviceBridge is the ONLY class allowed to know about both worlds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Device library (below) has zero knowledge of Qt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GUI code (above) has zero knowledge of threading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Bridge handles cross-thread delivery safely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Without the bridge: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•  • qtac::Signal&lt;&gt; fires on device thread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•  • GUI widget update from wrong thread → crash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With the bridge: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•  • Signal fires on device thread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•  • invokeMethod queues event onto GUI thread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•  • Qt delivers it safely to the widget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TACDev.dll: Refactored to Qt-Free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444"/>
                </a:solidFill>
                <a:latin typeface="Calibri"/>
              </a:rPr>
              <a:t>C API (unchanged from caller's perspective):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486400" cy="27889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303520" cy="2697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// TACDev.h — pure C, no Qt, no C++ exceptions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TACDEV_API TACDevHandle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TACDev_Open(const char* portName);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TACDEV_API void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TACDev_Close(TACDevHandle h);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TACDEV_API int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TACDev_SendCommand(TACDevHandle h,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                const char* cmd, bool on);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TACDEV_API int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TACDev_SetPinState(TACDevHandle h,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                uint64_t pin, bool state);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TACDEV_API int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TACDev_QuickCommand(TACDevHandle h,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                 const char* name);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160520"/>
          <a:ext cx="81381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474720"/>
                <a:gridCol w="2377440"/>
              </a:tblGrid>
              <a:tr h="347472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Qt6Core.dll + Qt6SerialPort.dll + ICU  (~38 MB)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DLL footprint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~2 MB + 38 MB Qt DLLs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~300 KB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Lab machine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Install Qt6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Drop DLL next to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Usable from Python/C#/LabVIEW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Yes (with Qt installed)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Yes (no Qt needed)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778240" y="1005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Calibri"/>
              </a:rPr>
              <a:t>Benefits: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141732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Lab scripts unchanged — same API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No Qt6 install on lab machines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Any language via C API: Python, C#, LabVIEW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Built entirely from qtac-core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Implementation: Waves /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868680"/>
          <a:ext cx="11155680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149840"/>
              </a:tblGrid>
              <a:tr h="347472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Wave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Work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Platform configs, PSoC/PIC32CX device classes, devicelist.json loader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W2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qtac::SerialPort/SerialPortInfo (libserialport); Qt-free drive thread hierarchy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qtac::Signal&lt;&gt; — multi-subscriber, lifetime-safe; migrate all callbacks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W4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qt-adapter library — string/container converters + TACDeviceBridge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W5–6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Wire FTDIDevice::open() to TACDriveThread; fix FTDI hardware bugs; VEH crash logger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W7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Device Info tab, Terminal tab in new GUI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qtac::AlpacaScript engine; Quick Settings buttons + Variables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W9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Preferences dialog, auto-shutdown, open-last-device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TACDev.dll — Qt-free C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W11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PSoC GUI path; PSoC command hash fix; decouple source/ from src/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Fixes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PSoC platform ID fallback; getPins() override; TC_READY_N init; battery state; serial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Results: Before vs. After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868680"/>
          <a:ext cx="111556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4480560"/>
              </a:tblGrid>
              <a:tr h="347472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Before (legacy)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 (qtac-core + TACDev.dll)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 dependency in device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Yes (Qt6::Core, Qt6::SerialPort)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TACDev.dll runtime deps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Qt6Core.dll (~38 MB)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ftd2xx.dll only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TACDev.dll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~2 MB + ~38 MB Qt DLLs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~300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Lab machine Qt install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Required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Not required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QObject / moc in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Pervasive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Zero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Multi-subscriber callbacks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Via Qt signals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Via qtac::Signal&lt;&gt;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Thread-safe GUI delivery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 auto-marshaling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Bridge + QueuedConnection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Test coverage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Manual only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Unit tests + hardware integration tests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PSoC / PIC32CX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Legacy Qt path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New Qt-free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Demo: New GUI vs. Legacy TAC.exe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44444"/>
                </a:solidFill>
                <a:latin typeface="Calibri"/>
              </a:rPr>
              <a:t>Legacy TAC.exe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Launch TAC.exe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Connect to ALPACA-LITE MTP8975 (platform 13)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Show device info: hardware type, firmware, serial, platform ID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Show pin tabs: General, FTDI layout, Terminal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Show Quick Settings buttons and Variables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Toggle a pin — show LED / physical response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8686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New qtac-app.exe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3444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Launch qtac-app.exe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Connect to same device (device selection dialog)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Show Device Info tab — same fields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Show pin tabs — General, tcnf-defined tabs, Terminal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Show Quick Settings buttons, Variables — same functionality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Toggle same pin — verify parity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Show Preferences → auto-shutdown, open last device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•  Disconnect and reconnect — open last device on startup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TACDev.dll Python demo available in Appendix G if time allows.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Known Gaps /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800">
                <a:solidFill>
                  <a:srgbClr val="1F1F1F"/>
                </a:solidFill>
                <a:latin typeface="Calibri"/>
              </a:rPr>
              <a:t>•  Some legacy GUI features not yet ported (help system, some device-type-specific dialogs)</a:t>
            </a:r>
          </a:p>
          <a:p>
            <a:pPr>
              <a:spcBef>
                <a:spcPts val="200"/>
              </a:spcBef>
            </a:pPr>
            <a:r>
              <a:rPr sz="1800">
                <a:solidFill>
                  <a:srgbClr val="1F1F1F"/>
                </a:solidFill>
                <a:latin typeface="Calibri"/>
              </a:rPr>
              <a:t>•  Linux support: SerialPortInfo_posix.cpp is stubbed</a:t>
            </a:r>
          </a:p>
          <a:p>
            <a:pPr>
              <a:spcBef>
                <a:spcPts val="200"/>
              </a:spcBef>
            </a:pPr>
            <a:r>
              <a:rPr sz="1600">
                <a:solidFill>
                  <a:srgbClr val="444444"/>
                </a:solidFill>
                <a:latin typeface="Calibri"/>
              </a:rPr>
              <a:t>  •  libserialport is cross-platform — Win32 path fully tested, Linux build not yet validated on hardware</a:t>
            </a:r>
          </a:p>
          <a:p>
            <a:pPr>
              <a:spcBef>
                <a:spcPts val="200"/>
              </a:spcBef>
            </a:pPr>
            <a:r>
              <a:rPr sz="1800">
                <a:solidFill>
                  <a:srgbClr val="1F1F1F"/>
                </a:solidFill>
                <a:latin typeface="Calibri"/>
              </a:rPr>
              <a:t>•  AlpacaScript validateScript() not yet exposed in new API</a:t>
            </a:r>
          </a:p>
          <a:p>
            <a:pPr>
              <a:spcBef>
                <a:spcPts val="200"/>
              </a:spcBef>
            </a:pPr>
            <a:r>
              <a:rPr sz="1800">
                <a:solidFill>
                  <a:srgbClr val="1F1F1F"/>
                </a:solidFill>
                <a:latin typeface="Calibri"/>
              </a:rPr>
              <a:t>•  Full automated test suite against all hardware variants still in progress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0C0"/>
                </a:solidFill>
                <a:latin typeface="Calibri"/>
              </a:rPr>
              <a:t>We removed Qt from the QTAC device core without breaking any existing functionality.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1124712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347472">
                <a:tc>
                  <a:txBody>
                    <a:bodyPr wrap="square"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gave 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qtac:: wrappers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Minimal call-site changes, Qt-like API, low migration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qtac::Signal&lt;&gt;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Multi-subscriber, lifetime-safe callbacks — no Qt meta-object system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Bridge pattern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Clean separation: device core knows nothing about Qt or threads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Preserve legacy code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Zero risk to production — new code coexists in same repo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Qt-free TACDev.dll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 Qt runtime on lab machines, 100× smaller footprint, open-source ready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  <a:latin typeface="Calibri"/>
              </a:rPr>
              <a:t>The foundation is in place to migrate off the legacy stack incrementally, at the team's pace.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Appendix A — File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55778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source/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├── library/              ← qtac-core  (Qt-free static library)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├── include/qtac/     ← Public headers  (qtac:: namespace)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│     String.h · ByteArray.h · Signal.h · SerialPort.h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│     AlpacaScript.h · Variant.h · Map.h · List.h · Pair.h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└── src/              ← Implementations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      AlpacaDevice.cpp · FTDIDevice.cpp · PSOCDevice.cpp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      TACDriveThread.cpp · AlpacaScript.cpp · SerialPort_win32.cpp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├── libraries/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└── qt-adapter/       ← Bridge: qtac-core ↔ Qt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      include/TACDeviceBridge.h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      include/qt_string_convert.h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      include/qt_container_convert.h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      src/TACDeviceBridge.cpp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├── app/                  ← qtac-app.exe  (Qt6 GUI, uses only qtac-core + adapter)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     TACWindow · TACPinFrame · TACDeviceSelection · TACApplication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└── tacdev/               ← TACDev.dll  (C API, Qt-free)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    TACDev.h · TACDev.cpp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third-party/              ← vendored dependencies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├── nlohmann/json/        ← header-only JSON (MIT)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└── libserialport/        ← cross-platform serial (LGPL v3)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docs/                     ← planning documents, this presentation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Appendix B — qtac::Signal&lt;&gt;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7132320" cy="36576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694944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Signal&lt;Args...&gt;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├── connect(fn) → shared_ptr&lt;token&gt;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│     • wraps fn in a weak_ptr entry in the subscriber list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│     • subscriber stays alive while caller holds the returned token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│     • token destroyed → weak_ptr expires → auto-disconnect on next fire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└── operator()(args...)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• acquires internal mutex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• iterates subscriber list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• promotes each weak_ptr; skips expired ones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• calls all live subscribers (mutex released during call to avoid deadlock)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• cleans up dead entries in-place after iteration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61772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Calibri"/>
              </a:rPr>
              <a:t>Thread safety: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3776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Calibri"/>
              </a:rPr>
              <a:t>connect/disconnect and fire can happen concurrently via internal mutex.
GUI thread marshaling is handled separately by TACDeviceBridge via QMetaObject::invokeMethod(Qt::QueuedConnection).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8229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Calibri"/>
              </a:rPr>
              <a:t>Lifetime example: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188720"/>
            <a:ext cx="4297680" cy="30175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234440"/>
            <a:ext cx="41148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class MyWidget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// Token held as member — lives as long as widget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std::shared_ptr&lt;void&gt; _tok;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void connectSignals(TACDriveThread* dt)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  _tok = dt-&gt;onPinStateChanged.connect(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      [this](uint64_t pin, bool s)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          updateUI(pin, s);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      });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// ~MyWidget() destroys _tok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// → weak_ptr expires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// → next Signal fire skips it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};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3434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Calibri"/>
              </a:rPr>
              <a:t>Properties at a glance: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680960" y="4709160"/>
          <a:ext cx="416052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508760"/>
              </a:tblGrid>
              <a:tr h="347472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Property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Provided?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Multi-subscriber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Auto-disconnect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Yes (token RAII)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Thread-safe fire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Yes (internal mutex)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GUI thread marshal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Via bridge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 dependency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Appendix C — Key Commits Reference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822960"/>
          <a:ext cx="11247120" cy="5559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7472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Commit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W2: 88def5c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qtac::SerialPort + qtac::SerialPortInfo (libserialport)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W2: b4ebf76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Qt-free drive thread hierarchy (TACLite, PSoC, PIC32CX)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W2: 490edaf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Migrate FramePackage + protocol layers to qtac::ByteArray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d70370e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qtac::Signal&lt;&gt; + migrate all callbacks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c560bb6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qt-adapter library (TACDeviceBridge + converters)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f99befd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PSoC/PIC32CX platform configs + device classes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ee313d9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devicelist.json loader + .tcnf config loader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987b98e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W6: Fix FTDI connect for ALPACA-LITE MTP8975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13a95d3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W8: qtac::AlpacaScript + Quick Settings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501ba84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W9: Preferences dialog + auto-shutdown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e1d0939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W10: Qt-free TACDev.dll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a5013c8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W11: Decouple source/ from src/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84880df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PSoC platform ID fallback (firmware_chip)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05dff91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Fix composite USB serial number (CM_Get_Parent)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7b36a3e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Fix TC_READY_N disabled-pin initialization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Appendix D — AlpacaScript: Qt-Free Script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AlpacaScript is the mini-language embedded in .tcnf device-config files that drives the Quick Settings buttons.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44444"/>
                </a:solidFill>
                <a:latin typeface="Calibri"/>
              </a:rPr>
              <a:t>Legacy (Qt-dependent):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303520" cy="1417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12064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// qcommon-console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typedef QSharedPointer&lt;_CommandEntry&gt; CommandEntry;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typedef QList&lt;CommandEntry&gt;           CommandEntries;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QMap&lt;QString, ScriptCommand&gt;          _scriptCommands;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QList&lt;ButtonEntry&gt;                    _buttons;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QMap&lt;QString, VariableEntry&gt;          _variables;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632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Calibri"/>
              </a:rPr>
              <a:t>Qt-free (source/library):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5303520" cy="1417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512064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// AlpacaScript.h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using CommandEntry   = std::shared_ptr&lt;_CommandEntry&gt;;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using CommandEntries = std::vector&lt;CommandEntry&gt;;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qtac::Map&lt;qtac::String, ScriptCommand&gt; _scriptCommands;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qtac::List&lt;ButtonEntry&gt;                _buttons;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qtac::Map&lt;qtac::String, VariableEntry&gt; _variables;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82296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Calibri"/>
              </a:rPr>
              <a:t>What AlpacaScript does: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188720"/>
            <a:ext cx="5760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Parses the "script" section of .tcnf device-config files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Resolves named sub-functions (up to 7 levels of nesting)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Substitutes $VariableName tokens at execution time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Powers Quick Settings buttons and user-configurable variables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New additions vs legacy: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•  Explicit ButtonEntry and VariableEntry structs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•  GUI enumerates buttons/variables without knowing script internals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•  Identical parsing logic and execution semantics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•  No Qt types — pure C++20 + qtac:: containers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37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44444"/>
                </a:solidFill>
                <a:latin typeface="Calibri"/>
              </a:rPr>
              <a:t>Execution flow: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257800"/>
            <a:ext cx="5303520" cy="11887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303520"/>
            <a:ext cx="51206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parseScript(json)           // load .tcnf "script" block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→ resolves sub-function calls recursively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→ builds CommandEntries per button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replaceTokens(cmd, vars)    // at button-press time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→ substitutes $VarName with current variable values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Appendix E — Platform Support: PSoC &amp; PIC32CX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Calibri"/>
              </a:rPr>
              <a:t>Platform identification chain (PSoC):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303520" cy="246888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1206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PSOCDevice::open()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├─ 1. "Get Platform ID" command (hardware response)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│       ↓ if unsupported / fails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├─ 2. USB bcdDevice revision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│       PlatformContainer::fromRevision(usbRevision, ePSOC)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│       ↓ if not found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└─ 3. Firmware chip field (2nd component of "major.chip.minor.rev")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      PlatformContainer::fromFirmwareChip(chip, ePSOC)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94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Calibri"/>
              </a:rPr>
              <a:t>Composite USB serial number fix: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160520"/>
            <a:ext cx="5303520" cy="22860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512064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// PSoC COM ports: Windows auto-generates instance ID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// containing '&amp;' — not the real device serial.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// Real serial is on the parent USB device.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// SerialPortInfo_win32.cpp fix: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if (instanceId.contains('&amp;'))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DEVINST parent;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CM_Get_Parent(&amp;parent, devInst, 0);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CM_Get_Device_IDA(parent, buf, size, 0);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   // extract serial from parent device ID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82296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Calibri"/>
              </a:rPr>
              <a:t>Drive thread classes: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35040" y="1188720"/>
          <a:ext cx="55778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005840"/>
              </a:tblGrid>
              <a:tr h="347472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Transport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TACLiteDriveThread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FTDI D2XX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ALPACA-LITE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TACPSOCDriveThread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Serial (COM)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PSoC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TACPIC32CXDriveThread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Serial (COM)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PIC32CX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035040" y="27432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Calibri"/>
              </a:rPr>
              <a:t>Key PSoC fixes: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1089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1F1F1F"/>
                </a:solidFill>
                <a:latin typeface="Calibri"/>
              </a:rPr>
              <a:t>•  getPins() override missing — base returned {} — TACPinFrame showed no pins; fixed by delegating to platform config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F1F1F"/>
                </a:solidFill>
                <a:latin typeface="Calibri"/>
              </a:rPr>
              <a:t>•  TC_READY_N init — disabled pins with initial_value:true were never written HIGH at open; fix: iterate getAllPins() not getActivePins()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F1F1F"/>
                </a:solidFill>
                <a:latin typeface="Calibri"/>
              </a:rPr>
              <a:t>•  Battery state race — waitForCompletion() called without setWaitForCompletion(); CV returned instantly; fix: set flag before creating TACPSOCCommand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F1F1F"/>
                </a:solidFill>
                <a:latin typeface="Calibri"/>
              </a:rPr>
              <a:t>•  devicelist.json platform 66 — added firmware_chip:4 for Hawi MTP8975 PSoC fallback lookup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Appendix F — Build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6400800" cy="53949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62179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CMake dependency graph: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qtac-core  (static lib)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├── depends on: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│     libserialport  (vendored, LGPL v3)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│     nlohmann/json  (vendored, MIT, header-only)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│     ftd2xx.lib     (FTDI SDK, from __Builds/x64/)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│     C++20 standard library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├── TACDev.dll  (shared lib — C API)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│     no Qt dependency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│     runtime: ftd2xx.dll  (FTDI devices)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│              serialport.dll  (serial devices)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└── qt-adapter  (static lib)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      depends on: qtac-core + Qt6::Core  only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      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      └── qtac-app.exe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            depends on: qt-adapter + Qt6::Core + Qt6::Widgets + Qt6::SerialPort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1F1F1F"/>
                </a:solidFill>
                <a:latin typeface="Courier New"/>
              </a:rPr>
              <a:t>              runtime:    windeployqt output (Qt6 DLLs + plugins)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Calibri"/>
              </a:rPr>
              <a:t>Build commands: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188720"/>
            <a:ext cx="5029200" cy="12344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234440"/>
            <a:ext cx="484632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# Configure + build qtac-app: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.\build_app.ps1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# Deploy (windeployqt + copy DLLs):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1F1F1F"/>
                </a:solidFill>
                <a:latin typeface="Courier New"/>
              </a:rPr>
              <a:t>.\deploy_app.ps1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Calibri"/>
              </a:rPr>
              <a:t>Key CMake targets: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49440" y="2926080"/>
          <a:ext cx="48463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737360"/>
              </a:tblGrid>
              <a:tr h="347472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Qt?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static lib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TACDev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shared lib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qt-adapter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static lib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Core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qtac-app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executable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Full Qt6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949440" y="4709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Calibri"/>
              </a:rPr>
              <a:t>Generator / compiler: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5074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CMake 3.16+, C++20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MSVC 2022 BuildTools + Ninja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Output: build\Release\qtac-app.exe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Appendix G — Licensing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868680"/>
          <a:ext cx="112471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3840480"/>
                <a:gridCol w="4023360"/>
              </a:tblGrid>
              <a:tr h="347472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Dependency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License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How used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obligation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nlohmann/json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Header-only, compiled into qtac-core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Include copyright notice in distributed binaries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libserialport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LGPL v3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Static lib compiled into qtac-core / TACDev.dll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Provide relinkable object files OR switch to dynamic linking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LGPL v3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Dynamic-linked — GUI app only; not in qtac-core or TACDev.dll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Include Qt copyright; allow user to relink against modified Qt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FTDI D2XX (ftd2xx.dll)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FTDI proprietary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Dynamic-linked at runtime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Redistribute unmodified; cannot modify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9834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Calibri"/>
              </a:rPr>
              <a:t>Action items: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5349240"/>
          <a:ext cx="1124712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188720"/>
                <a:gridCol w="6400800"/>
              </a:tblGrid>
              <a:tr h="347472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Priority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Add NOTICES / THIRD_PARTY_LICENSES 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Include MIT + LGPL v3 notices for nlohmann/json, libserialport, Qt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Evaluate libserialport link mode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Switch to dynamic linking (serialport.dll) to simplify LGPL compliance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Verify Qt DLL distribution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Already handled by windeployqt in deploy_app.ps1 — confirm LGPL notice bundled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Appendix G — Licensing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Calibri"/>
              </a:rPr>
              <a:t>nlohmann/json — 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Most permissive common open-source license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No copyleft, no source disclosure, no linking restrictions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Only obligation: include copyright notice in binary distribution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Compatible with closed-source and open-source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303520" cy="86868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5120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nlohmann/json  (https://github.com/nlohmann/json)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Copyright (c) 2013-2023 Niels Lohmann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Licensed under the MIT License.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03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Calibri"/>
              </a:rPr>
              <a:t>FTDI D2XX — Proprietary (freely redistributable)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6908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Redistribution permitted for products using FTDI devices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Modification not permitted — closed-source binary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Must be distributed unmodified; cannot be statically linked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No additional notice required beyond standard acknowledgment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82296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Calibri"/>
              </a:rPr>
              <a:t>libserialport — LGPL v3 (static link)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18872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Currently statically linked into qtac-core → TACDev.dll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LGPL v3 §4: static link is allowed, but distributor must do ONE of: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•  Option A: provide relinkable .obj files for qtac-core / TACDev.dll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•  Option B: switch to shared/dynamic linking (serialport.dll)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Option B is simpler — user can replace serialport.dll with modified version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Recommended: build libserialport as shared lib and ship serialport.dll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370332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Calibri"/>
              </a:rPr>
              <a:t>Qt6 — LGPL v3 (dynamic, GUI layer only)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8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Qt used only in qtac-app.exe and qt-adapter — dynamically linked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NOT present in qtac-core or TACDev.dll (primary goal of the refactor)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Dynamic linking satisfies LGPL v3 trivially — DLLs are separate files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Actions for distribution: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•  Distribute Qt DLLs unmodified (windeployqt handles this)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•  Include Qt copyright + LGPL v3 notice in NOTICES file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Appendix I — Repository Fork &amp; Merge-Back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146304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70C0"/>
                </a:solidFill>
                <a:latin typeface="Calibri"/>
              </a:rPr>
              <a:t>qualcomm/
qcom-test-automation-controller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370332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06000"/>
                </a:solidFill>
                <a:latin typeface="Calibri"/>
              </a:rPr>
              <a:t>bryantf-qc/
qtac-refactor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11096"/>
            <a:ext cx="1060704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04088" y="1801368"/>
            <a:ext cx="237744" cy="237744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441448" y="1801368"/>
            <a:ext cx="237744" cy="237744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488168" y="1801368"/>
            <a:ext cx="237744" cy="237744"/>
          </a:xfrm>
          <a:prstGeom prst="ellipse">
            <a:avLst/>
          </a:prstGeom>
          <a:solidFill>
            <a:srgbClr val="108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0" y="167335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70C0"/>
                </a:solidFill>
                <a:latin typeface="Calibri"/>
              </a:rPr>
              <a:t>main  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4105656"/>
            <a:ext cx="8046720" cy="18288"/>
          </a:xfrm>
          <a:prstGeom prst="rect">
            <a:avLst/>
          </a:prstGeom>
          <a:solidFill>
            <a:srgbClr val="E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1448" y="3995928"/>
            <a:ext cx="237744" cy="237744"/>
          </a:xfrm>
          <a:prstGeom prst="ellipse">
            <a:avLst/>
          </a:prstGeom>
          <a:solidFill>
            <a:srgbClr val="E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488168" y="3995928"/>
            <a:ext cx="237744" cy="237744"/>
          </a:xfrm>
          <a:prstGeom prst="ellipse">
            <a:avLst/>
          </a:prstGeom>
          <a:solidFill>
            <a:srgbClr val="E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4315968"/>
            <a:ext cx="8046720" cy="475488"/>
          </a:xfrm>
          <a:prstGeom prst="rect">
            <a:avLst/>
          </a:prstGeom>
          <a:solidFill>
            <a:srgbClr val="FFE8CC"/>
          </a:solidFill>
          <a:ln w="9525">
            <a:solidFill>
              <a:srgbClr val="E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4361688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06000"/>
                </a:solidFill>
                <a:latin typeface="Calibri"/>
              </a:rPr>
              <a:t>Qt Removal / Refactoring</a:t>
            </a:r>
          </a:p>
        </p:txBody>
      </p:sp>
      <p:cxnSp>
        <p:nvCxnSpPr>
          <p:cNvPr id="99" name="Line"/>
          <p:cNvCxnSpPr/>
          <p:nvPr/>
        </p:nvCxnSpPr>
        <p:spPr>
          <a:xfrm>
            <a:off x="2560320" y="1920240"/>
            <a:ext cx="0" cy="2194560"/>
          </a:xfrm>
          <a:prstGeom prst="line">
            <a:avLst/>
          </a:prstGeom>
          <a:ln w="20000">
            <a:solidFill>
              <a:srgbClr val="E06000"/>
            </a:solidFill>
          </a:ln>
        </p:spPr>
        <p:style>
          <a:lnRef idx="1">
            <a:schemeClr clr="accent1"/>
          </a:lnRef>
          <a:fillRef idx="0">
            <a:schemeClr clr="accent1"/>
          </a:fillRef>
          <a:effectRef idx="0">
            <a:schemeClr clr="accent1"/>
          </a:effectRef>
          <a:fontRef idx="minor">
            <a:schemeClr clr="dk2"/>
          </a:fontRef>
        </p:style>
      </p:cxnSp>
      <p:cxnSp>
        <p:nvCxnSpPr>
          <p:cNvPr id="99" name="Line"/>
          <p:cNvCxnSpPr/>
          <p:nvPr/>
        </p:nvCxnSpPr>
        <p:spPr>
          <a:xfrm>
            <a:off x="10607040" y="1920240"/>
            <a:ext cx="0" cy="2194560"/>
          </a:xfrm>
          <a:prstGeom prst="line">
            <a:avLst/>
          </a:prstGeom>
          <a:ln w="20000">
            <a:solidFill>
              <a:srgbClr val="108030"/>
            </a:solidFill>
          </a:ln>
        </p:spPr>
        <p:style>
          <a:lnRef idx="1">
            <a:schemeClr clr="accent1"/>
          </a:lnRef>
          <a:fillRef idx="0">
            <a:schemeClr clr="accent1"/>
          </a:fillRef>
          <a:effectRef idx="0">
            <a:schemeClr clr="accent1"/>
          </a:effectRef>
          <a:fontRef idx="minor">
            <a:schemeClr clr="dk2"/>
          </a:fontRef>
        </p:style>
      </p:cxnSp>
      <p:sp>
        <p:nvSpPr>
          <p:cNvPr id="100" name="TextBox 99"/>
          <p:cNvSpPr txBox="1"/>
          <p:nvPr/>
        </p:nvSpPr>
        <p:spPr>
          <a:xfrm>
            <a:off x="731520" y="1380744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70C0"/>
                </a:solidFill>
                <a:latin typeface="Calibri"/>
              </a:rPr>
              <a:t>project
start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468880" y="1380744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70C0"/>
                </a:solidFill>
                <a:latin typeface="Calibri"/>
              </a:rPr>
              <a:t>sync
point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04120" y="1261872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8030"/>
                </a:solidFill>
                <a:latin typeface="Calibri"/>
              </a:rPr>
              <a:t>merge-back
PR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737360" y="2103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Calibri"/>
              </a:rPr>
              <a:t>fork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235440" y="210312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08030"/>
                </a:solidFill>
                <a:latin typeface="Calibri"/>
              </a:rPr>
              <a:t>adds source/ alongside src/
zero changes to legacy code</a:t>
            </a:r>
          </a:p>
        </p:txBody>
      </p:sp>
      <p:sp>
        <p:nvSpPr>
          <p:cNvPr id="105" name="Oval 104"/>
          <p:cNvSpPr/>
          <p:nvPr/>
        </p:nvSpPr>
        <p:spPr>
          <a:xfrm>
            <a:off x="502920" y="5715000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77240" y="566013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70C0"/>
                </a:solidFill>
                <a:latin typeface="Calibri"/>
              </a:rPr>
              <a:t>upstream (qualcomm/qcom-test-automation-controller)</a:t>
            </a:r>
          </a:p>
        </p:txBody>
      </p:sp>
      <p:sp>
        <p:nvSpPr>
          <p:cNvPr id="107" name="Oval 106"/>
          <p:cNvSpPr/>
          <p:nvPr/>
        </p:nvSpPr>
        <p:spPr>
          <a:xfrm>
            <a:off x="4480560" y="5715000"/>
            <a:ext cx="182880" cy="182880"/>
          </a:xfrm>
          <a:prstGeom prst="ellipse">
            <a:avLst/>
          </a:prstGeom>
          <a:solidFill>
            <a:srgbClr val="E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54880" y="566013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6000"/>
                </a:solidFill>
                <a:latin typeface="Calibri"/>
              </a:rPr>
              <a:t>refactor fork (bryantf-qc/qtac-refactor)</a:t>
            </a:r>
          </a:p>
        </p:txBody>
      </p:sp>
      <p:sp>
        <p:nvSpPr>
          <p:cNvPr id="109" name="Oval 108"/>
          <p:cNvSpPr/>
          <p:nvPr/>
        </p:nvSpPr>
        <p:spPr>
          <a:xfrm>
            <a:off x="8138160" y="5715000"/>
            <a:ext cx="182880" cy="182880"/>
          </a:xfrm>
          <a:prstGeom prst="ellipse">
            <a:avLst/>
          </a:prstGeom>
          <a:solidFill>
            <a:srgbClr val="108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12479" y="56601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08030"/>
                </a:solidFill>
                <a:latin typeface="Calibri"/>
              </a:rPr>
              <a:t>merge-back PR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0C0"/>
                </a:solidFill>
                <a:latin typeface="Calibri"/>
              </a:rPr>
              <a:t>Appendix H — TACDev.dll Demo (Python)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31520"/>
            <a:ext cx="11430000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Calibri"/>
              </a:rPr>
              <a:t>Device control from Python with no GUI and no Qt installed: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6400800" cy="41605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6217920" cy="4069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import ctypes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tacdev = ctypes.CDLL("TACDev.dll")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# Set return types for handle-returning functions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tacdev.TACDev_Open.restype          = ctypes.c_void_p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tacdev.TACDev_GetFirmwareVersion.restype = ctypes.c_char_p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# Open device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h = tacdev.TACDev_Open(b"COM5")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assert h, "Failed to open device"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# Read firmware version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fw = tacdev.TACDev_GetFirmwareVersion(h)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print(f"Firmware: {fw.decode()}")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# Power on sequence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tacdev.TACDev_QuickCommand(h, b"POWER_ON")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# Toggle a pin directly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PIN_POWER = 0x0001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tacdev.TACDev_SetPinState(h, PIN_POWER, True)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# Close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F1F1F"/>
                </a:solidFill>
                <a:latin typeface="Courier New"/>
              </a:rPr>
              <a:t>tacdev.TACDev_Close(h)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8229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Calibri"/>
              </a:rPr>
              <a:t>Prerequisites: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18872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Python 3.x (standard library only — ctypes is built-in)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TACDev.dll in the same directory or on PATH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ftd2xx.dll alongside TACDev.dll (FTDI devices)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No Qt6 installation required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•  No C++ build toolchain required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5204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Calibri"/>
              </a:rPr>
              <a:t>Deployment footprint: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132320" y="3886200"/>
          <a:ext cx="4617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417320"/>
              </a:tblGrid>
              <a:tr h="347472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File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Required?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TACDev.dll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~300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ftd2xx.dll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~800 KB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FTDI only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serialport.dll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~150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Serial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Qt6*.dll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~38 MB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 (not needed)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132320" y="57607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Calibri"/>
              </a:rPr>
              <a:t>Same C API works from C#, LabVIEW, or any language with FFI.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